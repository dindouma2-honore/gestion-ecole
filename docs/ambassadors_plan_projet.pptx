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23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Ambassadors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de développement — de la mise en place du projet sur Git jusqu'à son achèvement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512064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2C37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environnement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5372100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80560" y="512064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2C3782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modules, 3 zones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5372100"/>
            <a:ext cx="457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0" y="512064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2C37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retenue : un monolithe modulaire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et la répartition des responsabilités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: les 73 modules du cahier des charges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606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modules communiquent entre eux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Git, de bout en bout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calendrier de réalisation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monolithe modulaire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3749040"/>
          </a:xfrm>
          <a:prstGeom prst="roundRect">
            <a:avLst>
              <a:gd name="adj" fmla="val 1951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Laravel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4231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88878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(Socle)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4231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01000" y="242316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931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D85A3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31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D85A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931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0" y="393192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7F77DD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3931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Assiduité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ne communique avec les autres que via une interface de Service — jamais par accès direct à la base de données.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COMMUNICATION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règle d'or : on appelle un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CEB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DB::table('inscriptions')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-&gt;where('eleve_id', $id)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-&gt;exists();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9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depuis un autre 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module qui lit ou écrit directement dans les tables d'un autre module — casse dès que la structure interne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AF3DE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42316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5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$this-&gt;inscriptionService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5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-&gt;estInscrit($eleveId, $anneeId);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9319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toujours par le «guichet» public du module — l'intérieur peut changer, l'appel reste valable.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règle est vérifiée automatiquement par deptrac à chaque Pull Request.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développeurs, quatre zones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— construit en premier, par une seule personne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rôles, permissions, années scolaires, audit — 4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E1F5E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 &amp; pédagogie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Élèves, parents, inscriptions, évaluations, progression — 17 modules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AEC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1144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1144" y="37490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81144" y="41148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&amp; finances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81144" y="45720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Personnel, enseignants, contrats, salaires, primes, budget — 18 modules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EEEDFE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39328" y="374904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39328" y="41148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&amp; assiduité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9328" y="4572000"/>
            <a:ext cx="2990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temps, séances, présences, biométrie, pointages — 8 modules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: construit en premier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rôles et permissions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1EFE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50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généraux de l'établissement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1EFE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scolaires et périodes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1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444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8221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et traçabilité des actions sensibles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commence son propre module avant que le Socle soit fusionné sur develop — c'est le seul point de passage obligé pour toute l'équipe.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périmètre : 73 modules du cahier des charges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 &amp; pédagogie (A) — 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&amp; inscriptions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Élèves, parents &amp; classes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&amp; progression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&amp; résultats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discipline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06824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&amp; finances (B) — 18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06824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&amp; enseignants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06824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Congés, discipline &amp; formation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06824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4306824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&amp; primes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06824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4306824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&amp; paiements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06824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5" name="Text 23"/>
          <p:cNvSpPr/>
          <p:nvPr/>
        </p:nvSpPr>
        <p:spPr>
          <a:xfrm>
            <a:off x="4306824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achats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65008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&amp; assiduité (C) — 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65008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5008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0" name="Text 28"/>
          <p:cNvSpPr/>
          <p:nvPr/>
        </p:nvSpPr>
        <p:spPr>
          <a:xfrm>
            <a:off x="8065008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 &amp; absences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65008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2" name="Text 30"/>
          <p:cNvSpPr/>
          <p:nvPr/>
        </p:nvSpPr>
        <p:spPr>
          <a:xfrm>
            <a:off x="8065008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cours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65008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Biométrie &amp; pointages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65008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d'assiduité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RESPONSABILITÉ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Développeur A — Scolarité &amp; pédagogie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(17)</a:t>
            </a:r>
            <a:endParaRPr lang="en-US" sz="1500" dirty="0"/>
          </a:p>
        </p:txBody>
      </p:sp>
      <p:sp>
        <p:nvSpPr>
          <p:cNvPr id="90" name="ModulesCol1"/>
          <p:cNvSpPr/>
          <p:nvPr/>
        </p:nvSpPr>
        <p:spPr>
          <a:xfrm>
            <a:off x="54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et admissions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et réinscriptions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et tuteurs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et affectations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scolaires et badges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scolaires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et programmes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pédagogique</a:t>
            </a:r>
          </a:p>
        </p:txBody>
      </p:sp>
      <p:sp>
        <p:nvSpPr>
          <p:cNvPr id="91" name="ModulesCol2"/>
          <p:cNvSpPr/>
          <p:nvPr/>
        </p:nvSpPr>
        <p:spPr>
          <a:xfrm>
            <a:off x="329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pédagogiques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résultats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scolaires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pédagogique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des élèves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1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exposées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EleveServiceInterface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existe() · getEleve()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InscriptionServiceInterface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inscrire() · estInscrit()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3D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89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bloquante — peut démarrer dès que le Socle est prêt.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RESPONSABILITÉ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Développeur B — RH &amp; finances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(18)</a:t>
            </a:r>
            <a:endParaRPr lang="en-US" sz="1500" dirty="0"/>
          </a:p>
        </p:txBody>
      </p:sp>
      <p:sp>
        <p:nvSpPr>
          <p:cNvPr id="90" name="ModulesCol1"/>
          <p:cNvSpPr/>
          <p:nvPr/>
        </p:nvSpPr>
        <p:spPr>
          <a:xfrm>
            <a:off x="54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administratif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 et permissions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du personnel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du personnel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et paie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scolaires</a:t>
            </a:r>
          </a:p>
        </p:txBody>
      </p:sp>
      <p:sp>
        <p:nvSpPr>
          <p:cNvPr id="91" name="ModulesCol2"/>
          <p:cNvSpPr/>
          <p:nvPr/>
        </p:nvSpPr>
        <p:spPr>
          <a:xfrm>
            <a:off x="329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scolaires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Recouvrement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et approvisionnements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</a:p>
          <a:p>
            <a:pPr marL="203200" indent="-203200">
              <a:buFont typeface="Arial"/>
              <a:buChar char="•"/>
            </a:pPr>
            <a:r>
              <a:rPr lang="en-US" sz="110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et rapports financiers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AECE7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exposées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EnseignantServiceInterface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existe() · getChargeHoraire()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ContratServiceInterface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estActif() · getSolde()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CEB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43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bloquante — peut démarrer dès que le Socle est prêt, en parallèle des deux autres zones.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RESPONSABILITÉ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Développeur C — Temps &amp; assiduité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(8)</a:t>
            </a:r>
            <a:endParaRPr lang="en-US" sz="1500" dirty="0"/>
          </a:p>
        </p:txBody>
      </p:sp>
      <p:sp>
        <p:nvSpPr>
          <p:cNvPr id="90" name="ModulesCol1"/>
          <p:cNvSpPr/>
          <p:nvPr/>
        </p:nvSpPr>
        <p:spPr>
          <a:xfrm>
            <a:off x="54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du personnel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cours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 des élèves</a:t>
            </a:r>
          </a:p>
        </p:txBody>
      </p:sp>
      <p:sp>
        <p:nvSpPr>
          <p:cNvPr id="91" name="ModulesCol2"/>
          <p:cNvSpPr/>
          <p:nvPr/>
        </p:nvSpPr>
        <p:spPr>
          <a:xfrm>
            <a:off x="3298640" y="2110000"/>
            <a:ext cx="2600000" cy="4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absences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Biométrie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Pointages</a:t>
            </a:r>
          </a:p>
          <a:p>
            <a:pPr marL="203200" indent="-203200">
              <a:buFont typeface="Arial"/>
              <a:buChar char="•"/>
            </a:pPr>
            <a:r>
              <a:rPr lang="en-US" sz="1200" dirty="0">
                <a:solidFill>
                  <a:srgbClr val="4B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d'assiduité</a:t>
            </a:r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EEDFE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exposée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240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PresenceServiceInterface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getStatutJour()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34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enregistrerPointage()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CEB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9319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module qui dépend des deux autres : attend EleveServiceInterface (A) et EnseignantServiceInterface (B) pour terminer le Moteur d'assiduité. Peut avancer sur l'emploi du temps, les séances de cours et la biométrie en attendant.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exemple concret de communication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AECE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(Développeur B)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23774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377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(Développeur 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926080"/>
            <a:ext cx="3383280" cy="0"/>
          </a:xfrm>
          <a:prstGeom prst="line">
            <a:avLst/>
          </a:prstGeom>
          <a:noFill/>
          <a:ln w="25400">
            <a:solidFill>
              <a:srgbClr val="6B6B6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912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via InscriptionServiceInterface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9966960" cy="155448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2519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Finances a besoin de savoir combien un élève doit encore payer, il n'interroge jamais directement la table inscriptions — il appelle 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4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$this-&gt;inscriptionService-&gt;getFraisRestants($inscriptionId);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clonage au partage du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&amp; configurer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clone, sail up -d, migrate — vérifier que les tests du Socle passent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28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sa branche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21945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feature/&lt;zone&gt;-&lt;description&gt; depuis develop à jour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+ tester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7033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son module, écrire les tests, jamais toucher aux Models d'un autre module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337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deptrac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7033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vendor/bin/deptrac analyse — doit passer avant de pousser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8463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Pousser &amp; ouvrir la PR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2120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push, Pull Request vers develop, décrire les interfaces livrées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7091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CAD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48463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&amp; fusion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52120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 deux autres relit, la CI valide, squash and merge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est vérifié automatiquement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testé isolément — la logique métier ne dépend pas de l'interface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6824" y="182880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EEEDFE"/>
          </a:solidFill>
          <a:ln/>
        </p:spPr>
      </p:sp>
      <p:sp>
        <p:nvSpPr>
          <p:cNvPr id="8" name="Text 6"/>
          <p:cNvSpPr/>
          <p:nvPr/>
        </p:nvSpPr>
        <p:spPr>
          <a:xfrm>
            <a:off x="4581144" y="21031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deptrac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81144" y="2697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toute Pull Request qui viole les frontières entre modules définies dans deptrac.yaml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1828800"/>
            <a:ext cx="3538728" cy="3291840"/>
          </a:xfrm>
          <a:prstGeom prst="roundRect">
            <a:avLst>
              <a:gd name="adj" fmla="val 2222"/>
            </a:avLst>
          </a:prstGeom>
          <a:solidFill>
            <a:srgbClr val="FAECE7"/>
          </a:solidFill>
          <a:ln/>
        </p:spPr>
      </p:sp>
      <p:sp>
        <p:nvSpPr>
          <p:cNvPr id="11" name="Text 9"/>
          <p:cNvSpPr/>
          <p:nvPr/>
        </p:nvSpPr>
        <p:spPr>
          <a:xfrm>
            <a:off x="8339328" y="210312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GitHub Actions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39328" y="2697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Migration, tests et deptrac s'exécutent automatiquement à chaque Pull Request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 ne peut être fusionnée sur develop que si les trois passent au vert.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 — 6 semaines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38328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46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39140" y="2011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</p:spPr>
      </p:sp>
      <p:sp>
        <p:nvSpPr>
          <p:cNvPr id="7" name="Text 5"/>
          <p:cNvSpPr/>
          <p:nvPr/>
        </p:nvSpPr>
        <p:spPr>
          <a:xfrm>
            <a:off x="739140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91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914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Bloquant pour tous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872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AECE7"/>
          </a:solidFill>
          <a:ln/>
        </p:spPr>
      </p:sp>
      <p:sp>
        <p:nvSpPr>
          <p:cNvPr id="12" name="Text 10"/>
          <p:cNvSpPr/>
          <p:nvPr/>
        </p:nvSpPr>
        <p:spPr>
          <a:xfrm>
            <a:off x="249174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174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démarrent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174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parallèle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398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244340" y="2011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244340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443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4434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dépend de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924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9694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AECE7"/>
          </a:solidFill>
          <a:ln/>
        </p:spPr>
      </p:sp>
      <p:sp>
        <p:nvSpPr>
          <p:cNvPr id="22" name="Text 20"/>
          <p:cNvSpPr/>
          <p:nvPr/>
        </p:nvSpPr>
        <p:spPr>
          <a:xfrm>
            <a:off x="599694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9694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 de cours (C)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9694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à C, en autonomie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450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49540" y="2011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1F5EE"/>
          </a:solidFill>
          <a:ln/>
        </p:spPr>
      </p:sp>
      <p:sp>
        <p:nvSpPr>
          <p:cNvPr id="27" name="Text 25"/>
          <p:cNvSpPr/>
          <p:nvPr/>
        </p:nvSpPr>
        <p:spPr>
          <a:xfrm>
            <a:off x="7749540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495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d'assiduité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49540" y="2670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termine, dépend de A +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297668" y="3218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9502140" y="37490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AECE7"/>
          </a:solidFill>
          <a:ln/>
        </p:spPr>
      </p:sp>
      <p:sp>
        <p:nvSpPr>
          <p:cNvPr id="32" name="Text 30"/>
          <p:cNvSpPr/>
          <p:nvPr/>
        </p:nvSpPr>
        <p:spPr>
          <a:xfrm>
            <a:off x="950214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214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214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&amp; charge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attend quoi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Peut commencer immédiatement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Doit attendre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Scolarité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Élèves, parents, inscriptions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(module autonome)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RH &amp; finances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Personnel, enseignants, salaires,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Rien pour cette 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Assiduité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Biométrie, pointages (partie technique)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EleveServiceInterface (A) + EnseignantServiceInterface (B)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tableau qui fixe l'ordre réel des sprints — pas les numéros de module du cahier des charges.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Prêts à démarrer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d'abord — un seul passage obligé pour tous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et C avancent ensuite en parallèle, chacun sur sa zone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communique toujours par Service, jamais par accès direct à la base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L'Assiduité (C) converge en dernier, une fois les deux autres livrées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avant qu'on commence 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transversaux — 28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communication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courriers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&amp; réunions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parents &amp; annonces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 parent &amp; élève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06824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 &amp; logistique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06824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17" name="Text 15"/>
          <p:cNvSpPr/>
          <p:nvPr/>
        </p:nvSpPr>
        <p:spPr>
          <a:xfrm>
            <a:off x="4306824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&amp; sorties élèves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06824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incidents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06824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4306824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&amp; maintenance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06824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3" name="Text 21"/>
          <p:cNvSpPr/>
          <p:nvPr/>
        </p:nvSpPr>
        <p:spPr>
          <a:xfrm>
            <a:off x="4306824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&amp; cantine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06824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/>
        </p:spPr>
      </p:sp>
      <p:sp>
        <p:nvSpPr>
          <p:cNvPr id="25" name="Text 23"/>
          <p:cNvSpPr/>
          <p:nvPr/>
        </p:nvSpPr>
        <p:spPr>
          <a:xfrm>
            <a:off x="4306824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événements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65008" y="169164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pilotage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65008" y="2194560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28" name="Text 26"/>
          <p:cNvSpPr/>
          <p:nvPr/>
        </p:nvSpPr>
        <p:spPr>
          <a:xfrm>
            <a:off x="8065008" y="219456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import/export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5008" y="2907792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0" name="Text 28"/>
          <p:cNvSpPr/>
          <p:nvPr/>
        </p:nvSpPr>
        <p:spPr>
          <a:xfrm>
            <a:off x="8065008" y="290779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intégrations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65008" y="3621024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2" name="Text 30"/>
          <p:cNvSpPr/>
          <p:nvPr/>
        </p:nvSpPr>
        <p:spPr>
          <a:xfrm>
            <a:off x="8065008" y="3621024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d'attente &amp; tâches planifiées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65008" y="4334256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4" name="Text 32"/>
          <p:cNvSpPr/>
          <p:nvPr/>
        </p:nvSpPr>
        <p:spPr>
          <a:xfrm>
            <a:off x="8065008" y="4334256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&amp; rapports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65008" y="5047488"/>
            <a:ext cx="3538728" cy="566928"/>
          </a:xfrm>
          <a:prstGeom prst="roundRect">
            <a:avLst>
              <a:gd name="adj" fmla="val 12903"/>
            </a:avLst>
          </a:prstGeom>
          <a:solidFill>
            <a:srgbClr val="EEEDFE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504748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aide à la décision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2026-08-12T16:03:35Z</dcterms:created>
  <dcterms:modified xsi:type="dcterms:W3CDTF">2026-08-12T16:03:35Z</dcterms:modified>
</cp:coreProperties>
</file>